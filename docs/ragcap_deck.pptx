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be648c8-0741-e03a-190b-ee913429affa}">
          <p14:sldIdLst>
            <p14:sldId id="256"/>
            <p14:sldId id="257"/>
          </p14:sldIdLst>
        </p14:section>
        <p14:section name="How it works" id="{1b9f7181-b94a-bc72-da40-14a0065aa4b7}">
          <p14:sldIdLst>
            <p14:sldId id="258"/>
            <p14:sldId id="259"/>
          </p14:sldIdLst>
        </p14:section>
        <p14:section name="How it was built" id="{953ab2cf-15ec-149a-b9a2-ed4f5a405e7a}">
          <p14:sldIdLst>
            <p14:sldId id="260"/>
            <p14:sldId id="261"/>
          </p14:sldIdLst>
        </p14:section>
        <p14:section name="Results" id="{703c1590-a867-9ae5-347f-ba7bf632087a}">
          <p14:sldIdLst>
            <p14:sldId id="262"/>
            <p14:sldId id="263"/>
            <p14:sldId id="264"/>
          </p14:sldIdLst>
        </p14:section>
        <p14:section name="Showcase" id="{bbb8ed25-4c8f-f0f0-0485-7659cc06f211}">
          <p14:sldIdLst>
            <p14:sldId id="265"/>
            <p14:sldId id="266"/>
            <p14:sldId id="267"/>
          </p14:sldIdLst>
        </p14:section>
        <p14:section name="Deploy" id="{98cbbd0d-6ede-354d-2b59-60b820116b3c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F6B76"/>
                </a:solidFill>
                <a:latin typeface="+mn-lt"/>
              </a:rPr>
              <a:t>Percent (llama3.2:3b)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Tuned set (27, mean of 4 runs)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Router accuracy</c:v>
                  </c:pt>
                  <c:pt idx="1">
                    <c:v>Answers correct</c:v>
                  </c:pt>
                  <c:pt idx="2">
                    <c:v>Retrieval hit rate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88.9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Unseen set (25, mean of 3 runs)</c:v>
                </c:pt>
              </c:strCache>
            </c:strRef>
          </c:tx>
          <c:spPr>
            <a:solidFill>
              <a:srgbClr val="2457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Router accuracy</c:v>
                  </c:pt>
                  <c:pt idx="1">
                    <c:v>Answers correct</c:v>
                  </c:pt>
                  <c:pt idx="2">
                    <c:v>Retrieval hit rate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</c:v>
                </c:pt>
                <c:pt idx="1">
                  <c:v>81.3</c:v>
                </c:pt>
                <c:pt idx="2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F6B76"/>
                </a:solidFill>
                <a:latin typeface="+mn-lt"/>
              </a:rPr>
              <a:t>99/192 → 0/192 chunks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Filter OFF</c:v>
                </c:pt>
              </c:strCache>
            </c:strRef>
          </c:tx>
          <c:spPr>
            <a:solidFill>
              <a:srgbClr val="B541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Superseded chunks retrieved (%)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Filter ON</c:v>
                </c:pt>
              </c:strCache>
            </c:strRef>
          </c:tx>
          <c:spPr>
            <a:solidFill>
              <a:srgbClr val="1E7F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Superseded chunks retrieved (%)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summary, then the two links. Everything on these slides is reproducible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column is what the PDF described; the right is what this project added. The key gap in the original was that nothing measured correctness.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paths. Point out that the version filter is a WHERE clause in code, before the vector ranking, not a prompt instruction.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hosted service anywhere. That is what made the honest measurement cheap to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is red on purpose: a recorded negative result is part of the method, not a failure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rules are what make the next two slides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Routing and retrieval generalise; answer accuracy drops 7.6 points on unseen questions, and the failing ids are the same every run, so they are model limits, not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is the left chart. The right table shows the control cases did not move and the cost is one millisecond.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written up with its evidence in the SOP; none is a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screenshots are from real runs on the Mac; the latencies in the pills are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the colleague's proposed direction. The scaffold and the measurement method transfer; the model needs to be bigger.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site is static: the replay is recorded. recreate.sh exits 1 if any fingerprint differs from the recorded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minutes in the Vercel dashboard. The CLI path needs an interactive login, which is why it was not done from the build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recreate.sh checks every row of this table and stops on the first mismatch.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two links. Offer the method before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ragcap  ·  github.com/shreenathacc22/ragcap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reenathacc22/ragcap" TargetMode="External"/><Relationship Id="rId2" Type="http://schemas.openxmlformats.org/officeDocument/2006/relationships/hyperlink" Target="https://shreenathacc22.github.io/ragcap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shreenathacc22.github.io/ragcap/" TargetMode="External"/><Relationship Id="rId3" Type="http://schemas.openxmlformats.org/officeDocument/2006/relationships/hyperlink" Target="https://shreenathacc22.github.io/ragcap/docs/SOP_ragcap_build.pdf" TargetMode="External"/><Relationship Id="rId4" Type="http://schemas.openxmlformats.org/officeDocument/2006/relationships/hyperlink" Target="https://shreenathacc22.github.io/ragcap/docs/RUNBOOK_ragcap_operations.pdf" TargetMode="External"/><Relationship Id="rId5" Type="http://schemas.openxmlformats.org/officeDocument/2006/relationships/hyperlink" Target="https://shreenathacc22.github.io/ragcap/docs/RECREATE_ragcap.pdf" TargetMode="External"/><Relationship Id="rId1" Type="http://schemas.openxmlformats.org/officeDocument/2006/relationships/image" Target="../media/image-12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reenathacc22/ragcap" TargetMode="External"/><Relationship Id="rId2" Type="http://schemas.openxmlformats.org/officeDocument/2006/relationships/hyperlink" Target="https://shreenathacc22.github.io/ragcap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ragcap: a multi-agent RAG system, built and measured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colleague's capstone design (LangGraph router, document RAG with grade and rewrite, SQL agent, general agent, Postgres + pgvector) reproduced on local models, then evaluated the way it should be: frozen test sets, repeated runs, and a version-aware filter with an OFF/ON proof.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2019 Intel MacBook Pro · no API key · no GPU · October 2026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https://github.com/shreenathacc22/ragcap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   ·    </a:t>
            </a:r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https://shreenathacc22.github.io/ragcap/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design to reproduce, and what was added</a:t>
            </a:r>
            <a:endParaRPr lang="en-US" sz="2800" dirty="0"/>
          </a:p>
        </p:txBody>
      </p:sp>
      <p:sp>
        <p:nvSpPr>
          <p:cNvPr id="3" name="card The design (from the capstone PDF)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The design (from the capstone PDF)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Router → documents / database / general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Retrieve top-6 → Grade → one Rewrite → Generate with citations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SQL agent: one SELECT, read-only, time-limited, one retry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General agent never states facts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Postgres + pgvector, LangGraph, FastAPI, streaming chat, UI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Reported: latency and cost per flow (110 answers)</a:t>
            </a:r>
            <a:endParaRPr lang="en-US" sz="1200" dirty="0"/>
          </a:p>
        </p:txBody>
      </p:sp>
      <p:sp>
        <p:nvSpPr>
          <p:cNvPr id="7" name="card Added here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Added here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quality column: frozen golden set (27), unseen set (25), router / retrieval / answer accuracy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Repeated runs: means and ranges, failing ids listed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Version-aware retrieval: superseded versions excluded before ranking, proven OFF vs 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Honest negatives: 8B grader on CPU, Docling on Intel macOS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P&amp;ID branch on synthetic drawings with a 3B vision model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Three documents: SOP, runbook, recreate guide; a one-command rebuild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graph: one router, three paths, one trace</a:t>
            </a:r>
            <a:endParaRPr lang="en-US" sz="2800" dirty="0"/>
          </a:p>
        </p:txBody>
      </p:sp>
      <p:sp>
        <p:nvSpPr>
          <p:cNvPr id="3" name="card question"/>
          <p:cNvSpPr/>
          <p:nvPr/>
        </p:nvSpPr>
        <p:spPr>
          <a:xfrm>
            <a:off x="457200" y="233172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question</a:t>
            </a:r>
            <a:endParaRPr lang="en-US" sz="1200" dirty="0"/>
          </a:p>
        </p:txBody>
      </p:sp>
      <p:sp>
        <p:nvSpPr>
          <p:cNvPr id="5" name="card router"/>
          <p:cNvSpPr/>
          <p:nvPr/>
        </p:nvSpPr>
        <p:spPr>
          <a:xfrm>
            <a:off x="1737360" y="23317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router</a:t>
            </a:r>
            <a:endParaRPr lang="en-US" sz="1300" dirty="0"/>
          </a:p>
        </p:txBody>
      </p:sp>
      <p:sp>
        <p:nvSpPr>
          <p:cNvPr id="7" name="card retrieve"/>
          <p:cNvSpPr/>
          <p:nvPr/>
        </p:nvSpPr>
        <p:spPr>
          <a:xfrm>
            <a:off x="3291840" y="12344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34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retrieve</a:t>
            </a:r>
            <a:endParaRPr lang="en-US" sz="1200" dirty="0"/>
          </a:p>
        </p:txBody>
      </p:sp>
      <p:sp>
        <p:nvSpPr>
          <p:cNvPr id="9" name="card grade"/>
          <p:cNvSpPr/>
          <p:nvPr/>
        </p:nvSpPr>
        <p:spPr>
          <a:xfrm>
            <a:off x="4663440" y="12344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34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grade</a:t>
            </a:r>
            <a:endParaRPr lang="en-US" sz="1200" dirty="0"/>
          </a:p>
        </p:txBody>
      </p:sp>
      <p:sp>
        <p:nvSpPr>
          <p:cNvPr id="11" name="card generate"/>
          <p:cNvSpPr/>
          <p:nvPr/>
        </p:nvSpPr>
        <p:spPr>
          <a:xfrm>
            <a:off x="6035040" y="12344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234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generate</a:t>
            </a:r>
            <a:endParaRPr lang="en-US" sz="1200" dirty="0"/>
          </a:p>
        </p:txBody>
      </p:sp>
      <p:sp>
        <p:nvSpPr>
          <p:cNvPr id="13" name="rewrite box"/>
          <p:cNvSpPr/>
          <p:nvPr/>
        </p:nvSpPr>
        <p:spPr>
          <a:xfrm>
            <a:off x="4663440" y="196596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5F6B7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663440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rewrite ×1</a:t>
            </a:r>
            <a:endParaRPr lang="en-US" sz="1100" dirty="0"/>
          </a:p>
        </p:txBody>
      </p:sp>
      <p:sp>
        <p:nvSpPr>
          <p:cNvPr id="15" name="card sql_agent"/>
          <p:cNvSpPr/>
          <p:nvPr/>
        </p:nvSpPr>
        <p:spPr>
          <a:xfrm>
            <a:off x="3291840" y="265176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651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sql_agent</a:t>
            </a:r>
            <a:endParaRPr lang="en-US" sz="1200" dirty="0"/>
          </a:p>
        </p:txBody>
      </p:sp>
      <p:sp>
        <p:nvSpPr>
          <p:cNvPr id="17" name="card generate_sql"/>
          <p:cNvSpPr/>
          <p:nvPr/>
        </p:nvSpPr>
        <p:spPr>
          <a:xfrm>
            <a:off x="4754880" y="26517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generate_sql</a:t>
            </a:r>
            <a:endParaRPr lang="en-US" sz="1200" dirty="0"/>
          </a:p>
        </p:txBody>
      </p:sp>
      <p:sp>
        <p:nvSpPr>
          <p:cNvPr id="19" name="card general"/>
          <p:cNvSpPr/>
          <p:nvPr/>
        </p:nvSpPr>
        <p:spPr>
          <a:xfrm>
            <a:off x="3291840" y="3566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3566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general</a:t>
            </a:r>
            <a:endParaRPr lang="en-US" sz="1200" dirty="0"/>
          </a:p>
        </p:txBody>
      </p:sp>
      <p:sp>
        <p:nvSpPr>
          <p:cNvPr id="21" name="card answer"/>
          <p:cNvSpPr/>
          <p:nvPr/>
        </p:nvSpPr>
        <p:spPr>
          <a:xfrm>
            <a:off x="7589520" y="23317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answer</a:t>
            </a:r>
            <a:endParaRPr lang="en-US" sz="1200" dirty="0"/>
          </a:p>
        </p:txBody>
      </p:sp>
      <p:sp>
        <p:nvSpPr>
          <p:cNvPr id="23" name="arrow"/>
          <p:cNvSpPr/>
          <p:nvPr/>
        </p:nvSpPr>
        <p:spPr>
          <a:xfrm>
            <a:off x="1463040" y="2606040"/>
            <a:ext cx="27432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4" name="arrow"/>
          <p:cNvSpPr/>
          <p:nvPr/>
        </p:nvSpPr>
        <p:spPr>
          <a:xfrm flipV="1">
            <a:off x="2834640" y="1508760"/>
            <a:ext cx="457200" cy="96012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5" name="arrow"/>
          <p:cNvSpPr/>
          <p:nvPr/>
        </p:nvSpPr>
        <p:spPr>
          <a:xfrm>
            <a:off x="4389120" y="1508760"/>
            <a:ext cx="27432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6" name="arrow"/>
          <p:cNvSpPr/>
          <p:nvPr/>
        </p:nvSpPr>
        <p:spPr>
          <a:xfrm>
            <a:off x="5760720" y="1508760"/>
            <a:ext cx="27432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7" name="arrow"/>
          <p:cNvSpPr/>
          <p:nvPr/>
        </p:nvSpPr>
        <p:spPr>
          <a:xfrm>
            <a:off x="5212080" y="1783080"/>
            <a:ext cx="9144" cy="18288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8" name="arrow"/>
          <p:cNvSpPr/>
          <p:nvPr/>
        </p:nvSpPr>
        <p:spPr>
          <a:xfrm flipH="1" flipV="1">
            <a:off x="3840480" y="1783080"/>
            <a:ext cx="822960" cy="384048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9" name="arrow"/>
          <p:cNvSpPr/>
          <p:nvPr/>
        </p:nvSpPr>
        <p:spPr>
          <a:xfrm>
            <a:off x="2834640" y="2651760"/>
            <a:ext cx="457200" cy="27432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0" name="arrow"/>
          <p:cNvSpPr/>
          <p:nvPr/>
        </p:nvSpPr>
        <p:spPr>
          <a:xfrm>
            <a:off x="4480560" y="2926080"/>
            <a:ext cx="27432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1" name="arrow"/>
          <p:cNvSpPr/>
          <p:nvPr/>
        </p:nvSpPr>
        <p:spPr>
          <a:xfrm>
            <a:off x="2834640" y="2743200"/>
            <a:ext cx="457200" cy="109728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2" name="arrow"/>
          <p:cNvSpPr/>
          <p:nvPr/>
        </p:nvSpPr>
        <p:spPr>
          <a:xfrm>
            <a:off x="7132320" y="1508760"/>
            <a:ext cx="457200" cy="96012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3" name="arrow"/>
          <p:cNvSpPr/>
          <p:nvPr/>
        </p:nvSpPr>
        <p:spPr>
          <a:xfrm flipV="1">
            <a:off x="6126480" y="2651760"/>
            <a:ext cx="1463040" cy="27432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4" name="arrow"/>
          <p:cNvSpPr/>
          <p:nvPr/>
        </p:nvSpPr>
        <p:spPr>
          <a:xfrm flipV="1">
            <a:off x="4389120" y="2743200"/>
            <a:ext cx="3200400" cy="109728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291840" y="8961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documents: top-6 chunks from pgvector, WHERE superseded = false before ranking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291840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database: one read-only SELECT, 5 s timeout, one retry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291840" y="4133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general: greetings only; forbidden from stating facts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Every node appends its milliseconds and tokens to the trace; the API streams one event per node.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stack, all local</a:t>
            </a:r>
            <a:endParaRPr lang="en-US" sz="2800" dirty="0"/>
          </a:p>
        </p:txBody>
      </p:sp>
      <p:sp>
        <p:nvSpPr>
          <p:cNvPr id="3" name="card Postgres 16 + pgvector 0.8"/>
          <p:cNvSpPr/>
          <p:nvPr/>
        </p:nvSpPr>
        <p:spPr>
          <a:xfrm>
            <a:off x="457200" y="105156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Postgres 16 + pgvector 0.8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 Docker on 127.0.0.1:5433. Tables documents (name, version, superseded, effective_date), chunks (vector(768), HNSW), uploaded_tables.</a:t>
            </a:r>
            <a:endParaRPr lang="en-US" sz="1200" dirty="0"/>
          </a:p>
        </p:txBody>
      </p:sp>
      <p:sp>
        <p:nvSpPr>
          <p:cNvPr id="6" name="card Ollama"/>
          <p:cNvSpPr/>
          <p:nvPr/>
        </p:nvSpPr>
        <p:spPr>
          <a:xfrm>
            <a:off x="4663440" y="105156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Ollama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llama3.2:3b for every LLM call; nomic-embed-text (768 d) for embeddings; qwen2.5vl:3b for drawings. OpenAI-compatible endpoint, so the openai SDK is the only client.</a:t>
            </a:r>
            <a:endParaRPr lang="en-US" sz="1200" dirty="0"/>
          </a:p>
        </p:txBody>
      </p:sp>
      <p:sp>
        <p:nvSpPr>
          <p:cNvPr id="9" name="card LangGraph 1.2"/>
          <p:cNvSpPr/>
          <p:nvPr/>
        </p:nvSpPr>
        <p:spPr>
          <a:xfrm>
            <a:off x="457200" y="224028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50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LangGraph 1.2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43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StateGraph with conditional edges; nodes are plain functions with a timing decorator.</a:t>
            </a:r>
            <a:endParaRPr lang="en-US" sz="1200" dirty="0"/>
          </a:p>
        </p:txBody>
      </p:sp>
      <p:sp>
        <p:nvSpPr>
          <p:cNvPr id="12" name="card Ingestion"/>
          <p:cNvSpPr/>
          <p:nvPr/>
        </p:nvSpPr>
        <p:spPr>
          <a:xfrm>
            <a:off x="4663440" y="224028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350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Ingestion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43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Markdown and PDF to paragraph-packed chunks; front-matter becomes version metadata and is stripped before embedding; CSV/Excel become SQL tables.</a:t>
            </a:r>
            <a:endParaRPr lang="en-US" sz="1200" dirty="0"/>
          </a:p>
        </p:txBody>
      </p:sp>
      <p:sp>
        <p:nvSpPr>
          <p:cNvPr id="15" name="card FastAPI + web/"/>
          <p:cNvSpPr/>
          <p:nvPr/>
        </p:nvSpPr>
        <p:spPr>
          <a:xfrm>
            <a:off x="457200" y="342900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38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FastAPI + web/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/upload, /chat (server-sent events), /eval, /health; a static page renders the node stream. Gradio as a second UI.</a:t>
            </a:r>
            <a:endParaRPr lang="en-US" sz="1200" dirty="0"/>
          </a:p>
        </p:txBody>
      </p:sp>
      <p:sp>
        <p:nvSpPr>
          <p:cNvPr id="18" name="card Evaluation scripts"/>
          <p:cNvSpPr/>
          <p:nvPr/>
        </p:nvSpPr>
        <p:spPr>
          <a:xfrm>
            <a:off x="4663440" y="342900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538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Evaluation scripts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9319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eval.py (answer level), b1_eval.py (retrieval OFF/ON), b1_check.py (data checks + negative tests), pid_eval.py, summarize_series.py, recreate.sh.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Twenty-five steps in six phases</a:t>
            </a:r>
            <a:endParaRPr lang="en-US" sz="2800" dirty="0"/>
          </a:p>
        </p:txBody>
      </p:sp>
      <p:sp>
        <p:nvSpPr>
          <p:cNvPr id="3" name="phase 1"/>
          <p:cNvSpPr/>
          <p:nvPr/>
        </p:nvSpPr>
        <p:spPr>
          <a:xfrm>
            <a:off x="86868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arrow"/>
          <p:cNvSpPr/>
          <p:nvPr/>
        </p:nvSpPr>
        <p:spPr>
          <a:xfrm>
            <a:off x="146304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572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Build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DB, ingest, graph, golden set frozen before any code, eval, API + UI (steps 1–8)</a:t>
            </a:r>
            <a:endParaRPr lang="en-US" sz="1050" dirty="0"/>
          </a:p>
        </p:txBody>
      </p:sp>
      <p:sp>
        <p:nvSpPr>
          <p:cNvPr id="8" name="phase 2"/>
          <p:cNvSpPr/>
          <p:nvPr/>
        </p:nvSpPr>
        <p:spPr>
          <a:xfrm>
            <a:off x="228600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arrow"/>
          <p:cNvSpPr/>
          <p:nvPr/>
        </p:nvSpPr>
        <p:spPr>
          <a:xfrm>
            <a:off x="288036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187452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Improve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router, SQL rules, per-passage grader; one change at a time, committed before measuring (9–14)</a:t>
            </a:r>
            <a:endParaRPr lang="en-US" sz="1050" dirty="0"/>
          </a:p>
        </p:txBody>
      </p:sp>
      <p:sp>
        <p:nvSpPr>
          <p:cNvPr id="13" name="phase 3"/>
          <p:cNvSpPr/>
          <p:nvPr/>
        </p:nvSpPr>
        <p:spPr>
          <a:xfrm>
            <a:off x="370332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33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arrow"/>
          <p:cNvSpPr/>
          <p:nvPr/>
        </p:nvSpPr>
        <p:spPr>
          <a:xfrm>
            <a:off x="429768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2918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Measure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25 unseen questions, 3+4 repeated runs, mean and range, the gap stated (15–18)</a:t>
            </a:r>
            <a:endParaRPr lang="en-US" sz="1050" dirty="0"/>
          </a:p>
        </p:txBody>
      </p:sp>
      <p:sp>
        <p:nvSpPr>
          <p:cNvPr id="18" name="phase 4"/>
          <p:cNvSpPr/>
          <p:nvPr/>
        </p:nvSpPr>
        <p:spPr>
          <a:xfrm>
            <a:off x="5120640" y="1188720"/>
            <a:ext cx="548640" cy="548640"/>
          </a:xfrm>
          <a:prstGeom prst="ellipse">
            <a:avLst/>
          </a:prstGeom>
          <a:solidFill>
            <a:srgbClr val="B541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arrow"/>
          <p:cNvSpPr/>
          <p:nvPr/>
        </p:nvSpPr>
        <p:spPr>
          <a:xfrm>
            <a:off x="571500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70916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Negative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8B grader on this CPU: recorded with evidence, switch kept for a GPU (19)</a:t>
            </a:r>
            <a:endParaRPr lang="en-US" sz="1050" dirty="0"/>
          </a:p>
        </p:txBody>
      </p:sp>
      <p:sp>
        <p:nvSpPr>
          <p:cNvPr id="23" name="phase 5"/>
          <p:cNvSpPr/>
          <p:nvPr/>
        </p:nvSpPr>
        <p:spPr>
          <a:xfrm>
            <a:off x="653796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arrow"/>
          <p:cNvSpPr/>
          <p:nvPr/>
        </p:nvSpPr>
        <p:spPr>
          <a:xfrm>
            <a:off x="713232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12648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Versions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16 runbooks old/current, data checks, OFF/ON ablation, default ON (20)</a:t>
            </a:r>
            <a:endParaRPr lang="en-US" sz="1050" dirty="0"/>
          </a:p>
        </p:txBody>
      </p:sp>
      <p:sp>
        <p:nvSpPr>
          <p:cNvPr id="28" name="phase 6"/>
          <p:cNvSpPr/>
          <p:nvPr/>
        </p:nvSpPr>
        <p:spPr>
          <a:xfrm>
            <a:off x="795528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5438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Close out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browser checks, LangSmith opt-in, static front end, P&amp;ID branch, site (21–25)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Every step in the SOP has the problem found, the change, how it was verified, and the commands used.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the numbers were kept honest</a:t>
            </a:r>
            <a:endParaRPr lang="en-US" sz="2800" dirty="0"/>
          </a:p>
        </p:txBody>
      </p:sp>
      <p:sp>
        <p:nvSpPr>
          <p:cNvPr id="3" name="rul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Freeze first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3560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golden set was committed before the pipeline existed; the unseen set before its first run. Git order is the evidence.</a:t>
            </a:r>
            <a:endParaRPr lang="en-US" sz="1100" dirty="0"/>
          </a:p>
        </p:txBody>
      </p:sp>
      <p:sp>
        <p:nvSpPr>
          <p:cNvPr id="7" name="rule 2"/>
          <p:cNvSpPr/>
          <p:nvPr/>
        </p:nvSpPr>
        <p:spPr>
          <a:xfrm>
            <a:off x="4663440" y="1143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Never tune on the test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43560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first router draft copied golden questions as examples; it was replaced before any run. Scorer fixes go in an amendments file, never in the frozen set.</a:t>
            </a:r>
            <a:endParaRPr lang="en-US" sz="1100" dirty="0"/>
          </a:p>
        </p:txBody>
      </p:sp>
      <p:sp>
        <p:nvSpPr>
          <p:cNvPr id="11" name="rule 3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Commit before measuring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6243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One prompt change at a time, full run, compared by failing case ids, not just the percentage.</a:t>
            </a:r>
            <a:endParaRPr lang="en-US" sz="1100" dirty="0"/>
          </a:p>
        </p:txBody>
      </p:sp>
      <p:sp>
        <p:nvSpPr>
          <p:cNvPr id="15" name="rule 4"/>
          <p:cNvSpPr/>
          <p:nvPr/>
        </p:nvSpPr>
        <p:spPr>
          <a:xfrm>
            <a:off x="4663440" y="23317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 ranges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6243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Three held-out runs and four tuned-set runs; the 7.6-point gap between them is stated as the over-fitting measure.</a:t>
            </a:r>
            <a:endParaRPr lang="en-US" sz="1100" dirty="0"/>
          </a:p>
        </p:txBody>
      </p:sp>
      <p:sp>
        <p:nvSpPr>
          <p:cNvPr id="19" name="rule 5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Fair latency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8130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OFF and ON interleaved in one process after a warm-up; a single cold run once showed a false 3× difference.</a:t>
            </a:r>
            <a:endParaRPr lang="en-US" sz="1100" dirty="0"/>
          </a:p>
        </p:txBody>
      </p:sp>
      <p:sp>
        <p:nvSpPr>
          <p:cNvPr id="23" name="rule 6"/>
          <p:cNvSpPr/>
          <p:nvPr/>
        </p:nvSpPr>
        <p:spPr>
          <a:xfrm>
            <a:off x="4663440" y="3520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Record negatives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8130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qwen3:8b could not grade six passages in usable time on this CPU; the switch stays, the evidence is in the SOP.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Results: tuned set vs unseen set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097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7.6 pts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the gap between tuned and unseen answer accuracy: the honest measure of over-fitting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377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 cases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fail in every held-out run: three are the 3B grader rejecting a differently phrased passage, one is a router ambiguity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657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100%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unanswerable questions refused, every run; general questions never answered with facts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Version-aware retrieval: the trap and the fix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Retrieval only, 32 frozen cases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OFF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Version-trap cases passing (facts present, no stale value from an old chunk)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2/12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12/12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Control cases passing (must stay flat)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20/20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20/20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Median retrieve, interleaved ×3, 96 calls each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56 ms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57 ms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Pair similarity old vs current (nomic-embed-text)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0.962 – 0.990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3840480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How: each document version carries version, effective_date and superseded; retrieve() adds WHERE d.superseded = false before ORDER BY, so an old runbook that is 0.99-similar to the question is never a candidate. One line of SQL, behind a switch, default ON since the ablation was recorded.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At answer level both settings scored 88.9% on this corpus (its current runbooks name their former values); multi-hop improved 0/2 → 1/2 with the filter 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Decisions taken on evidence</a:t>
            </a:r>
            <a:endParaRPr lang="en-US" sz="2800" dirty="0"/>
          </a:p>
        </p:txBody>
      </p:sp>
      <p:sp>
        <p:nvSpPr>
          <p:cNvPr id="3" name="card Stronger grader: tested, not possible here"/>
          <p:cNvSpPr/>
          <p:nvPr/>
        </p:nvSpPr>
        <p:spPr>
          <a:xfrm>
            <a:off x="457200" y="10515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Stronger grader: tested, not possible here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qwen3:8b grades one passage in 33–52 s but never returned six passages in 20 minutes on this CPU; the runner sat at 578% CPU. The escalate design and switch are in place for a GPU or hosted model.</a:t>
            </a:r>
            <a:endParaRPr lang="en-US" sz="1200" dirty="0"/>
          </a:p>
        </p:txBody>
      </p:sp>
      <p:sp>
        <p:nvSpPr>
          <p:cNvPr id="6" name="card Next.js: descoped"/>
          <p:cNvSpPr/>
          <p:nvPr/>
        </p:nvSpPr>
        <p:spPr>
          <a:xfrm>
            <a:off x="4663440" y="10515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Next.js: descoped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Node 24 is installed, so it was possible; it adds a toolchain and hosting without changing anything measured. A static page proves the streaming contract instead.</a:t>
            </a:r>
            <a:endParaRPr lang="en-US" sz="1200" dirty="0"/>
          </a:p>
        </p:txBody>
      </p:sp>
      <p:sp>
        <p:nvSpPr>
          <p:cNvPr id="9" name="card Docling: blocked on Intel macOS"/>
          <p:cNvSpPr/>
          <p:nvPr/>
        </p:nvSpPr>
        <p:spPr>
          <a:xfrm>
            <a:off x="457200" y="27889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Docling: blocked on Intel macOS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918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Last torch wheel is 2.2.2; the layout model needs newer transformers and numpy 2. PDFs use pypdf text; run Docling elsewhere and ingest the Markdown.</a:t>
            </a:r>
            <a:endParaRPr lang="en-US" sz="1200" dirty="0"/>
          </a:p>
        </p:txBody>
      </p:sp>
      <p:sp>
        <p:nvSpPr>
          <p:cNvPr id="12" name="card The 'outages' were sleep"/>
          <p:cNvSpPr/>
          <p:nvPr/>
        </p:nvSpPr>
        <p:spPr>
          <a:xfrm>
            <a:off x="4663440" y="27889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The 'outages' were sleep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918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Three service failures traced in the system log to the Mac sleeping; every long script now re-execs under caffeinate, and the runbook has the checklist.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Two interfaces on one streaming API</a:t>
            </a:r>
            <a:endParaRPr lang="en-US" sz="2800" dirty="0"/>
          </a:p>
        </p:txBody>
      </p:sp>
      <p:pic>
        <p:nvPicPr>
          <p:cNvPr id="3" name="web front end screenshot" descr="static page showing node pills and an SQL answ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1773936"/>
          </a:xfrm>
          <a:prstGeom prst="rect">
            <a:avLst/>
          </a:prstGeom>
        </p:spPr>
      </p:pic>
      <p:pic>
        <p:nvPicPr>
          <p:cNvPr id="4" name="Gradio screenshot" descr="Gradio chat answering 75% with a trace 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26771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611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web/index.html: one pill per graph node as it finishes, then the answer, route, SQL and citations. No build step; served by FastAPI at /.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611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Gradio: chat with the trace line under each answer; upload documents and tables. Both were exercised in headless Chromium with live questions.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P&amp;ID branch: drawings into the same index</a:t>
            </a:r>
            <a:endParaRPr lang="en-US" sz="2800" dirty="0"/>
          </a:p>
        </p:txBody>
      </p:sp>
      <p:pic>
        <p:nvPicPr>
          <p:cNvPr id="3" name="synthetic P&amp;ID" descr="synthetic piping and instrumentation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297680" cy="27432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51560"/>
          <a:ext cx="3749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Run 2 (qwen2.5vl:3b, ~100 s per drawing)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Tags read correctly (3 drawings)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36/39, none invented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Right drawing retrieved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12/12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Answers correct, 12 frozen questions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5/12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what an instrument measures, on what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3/3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valve isolating a pump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1/3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controller + control valve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1/3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which drawing / unit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0/3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Synthetic drawings from one template with every tag in a ground-truth file (real P&amp;IDs are confidential). What fails is the same 3B grader that limits the text pipeline, plus the title-block subtitle and small text near symbol edges: exactly what a real set will exercise first. Start a real project from a golden set like this one, on a GPU-class vision model.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it, test it</a:t>
            </a:r>
            <a:endParaRPr lang="en-US" sz="2800" dirty="0"/>
          </a:p>
        </p:txBody>
      </p:sp>
      <p:pic>
        <p:nvPicPr>
          <p:cNvPr id="3" name="showcase site screenshot" descr="the ragcap showcase 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297680" cy="3108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937760" y="1051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Live showcase (GitHub Pages, static): </a:t>
            </a:r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https://shreenathacc22.github.io/ragcap/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600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Results, the flow, screenshots, the documents, and a replay of 64 recorded runs: pick a question, see its route, node timings, answer, and for version cases the documents retrieved OFF vs ON.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5146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Test it live (45 min, Docker + Ollama + Python 3.12):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https://github.com/shreenathacc22/ragcap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ragcap &amp;&amp; ./recreate.sh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Then try the scenario catalogue in docs/RECREATE.pdf, for example: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VERSION_AWARE=0 … "At what disk utilisation should a broker page?" → often 85% (the trap)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VERSION_AWARE=1 … the same question → 75% (the fix)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"Which brokers are above 85% disk usage?" → SQL agent, brokers 3 and 5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Documents: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SOP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Runbook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Recreate guide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Deploying the site to Vercel, step by step</a:t>
            </a:r>
            <a:endParaRPr lang="en-US" sz="2800" dirty="0"/>
          </a:p>
        </p:txBody>
      </p:sp>
      <p:sp>
        <p:nvSpPr>
          <p:cNvPr id="3" name="vercel step 1"/>
          <p:cNvSpPr/>
          <p:nvPr/>
        </p:nvSpPr>
        <p:spPr>
          <a:xfrm>
            <a:off x="457200" y="1124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Sign 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17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vercel.com → Continue with GitHub (the account that owns shreenathacc22/ragcap).</a:t>
            </a:r>
            <a:endParaRPr lang="en-US" sz="1050" dirty="0"/>
          </a:p>
        </p:txBody>
      </p:sp>
      <p:sp>
        <p:nvSpPr>
          <p:cNvPr id="7" name="vercel step 2"/>
          <p:cNvSpPr/>
          <p:nvPr/>
        </p:nvSpPr>
        <p:spPr>
          <a:xfrm>
            <a:off x="4663440" y="1124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Import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417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Add New → Project → Import Git Repository → shreenathacc22/ragcap. Authorise the Vercel GitHub app for this repo if asked.</a:t>
            </a:r>
            <a:endParaRPr lang="en-US" sz="1050" dirty="0"/>
          </a:p>
        </p:txBody>
      </p:sp>
      <p:sp>
        <p:nvSpPr>
          <p:cNvPr id="11" name="vercel step 3"/>
          <p:cNvSpPr/>
          <p:nvPr/>
        </p:nvSpPr>
        <p:spPr>
          <a:xfrm>
            <a:off x="457200" y="2267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194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Settings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560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Framework Preset: Other. Root Directory: leave as the repo root. Build Command: empty. Output Directory: site (vercel.json already says so).</a:t>
            </a:r>
            <a:endParaRPr lang="en-US" sz="1050" dirty="0"/>
          </a:p>
        </p:txBody>
      </p:sp>
      <p:sp>
        <p:nvSpPr>
          <p:cNvPr id="15" name="vercel step 4"/>
          <p:cNvSpPr/>
          <p:nvPr/>
        </p:nvSpPr>
        <p:spPr>
          <a:xfrm>
            <a:off x="4663440" y="2267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194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Deploy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560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Click Deploy; the first URL looks like ragcap-&lt;hash&gt;.vercel.app and opens the same site as GitHub Pages.</a:t>
            </a:r>
            <a:endParaRPr lang="en-US" sz="1050" dirty="0"/>
          </a:p>
        </p:txBody>
      </p:sp>
      <p:sp>
        <p:nvSpPr>
          <p:cNvPr id="19" name="vercel step 5"/>
          <p:cNvSpPr/>
          <p:nvPr/>
        </p:nvSpPr>
        <p:spPr>
          <a:xfrm>
            <a:off x="457200" y="3410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337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Domain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703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Settings → Domains → add ragcap.vercel.app (or any free name); paste the URL into README.md and the site, run publish_site.sh.</a:t>
            </a:r>
            <a:endParaRPr lang="en-US" sz="1050" dirty="0"/>
          </a:p>
        </p:txBody>
      </p:sp>
      <p:sp>
        <p:nvSpPr>
          <p:cNvPr id="23" name="vercel step 6"/>
          <p:cNvSpPr/>
          <p:nvPr/>
        </p:nvSpPr>
        <p:spPr>
          <a:xfrm>
            <a:off x="4663440" y="3410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3337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Keep it current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703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Every git push to main redeploys; the Deployments tab shows each build. CLI alternative: npm i -g vercel &amp;&amp; vercel login &amp;&amp; vercel --prod.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Why only the site: the pipeline needs Postgres + pgvector and Ollama, which neither Vercel nor Pages run. GitHub Pages is already live from the gh-pages branch (publish_site.sh); Vercel serves the identical site/ folder once imported.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Recreating it anywhere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1417320"/>
          </a:xfrm>
          <a:prstGeom prst="rect">
            <a:avLst/>
          </a:prstGeom>
          <a:solidFill>
            <a:srgbClr val="EEF3F6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https://github.com/shreenathacc22/ragcap &amp;&amp; cd ragcap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-a Docker; ollama pull llama3.2:3b; ollama pull nomic-embed-text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./recreate.sh          # DB, ingest, checks, fingerprints, OFF/ON ablation, smoke questions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.venv/bin/uvicorn api:app --port 8000     # http://127.0.0.1:8000/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./run_series.sh mylabel llama3.2:3b     # repeated runs; summarize_series.py mylabel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pid_eval.py --ingest   # P&amp;ID branch (ollama pull qwen2.5vl:3b first)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Fingerprint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Value a correct rebuild must match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Database after ingest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16 docs, 16 chunks, 8 superseded, 1 table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Data checks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PASS; pair similarity 0.962–0.990; three negative tests reported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Retrieval ablation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OFF 99/192 (51.6%) → ON 0/192 (0.0%); trap 2/12 → 12/12; control 20/20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Golden sets (sha1 prefixes)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golden 68ec09bd…, held-out 02ddcfd6…, P&amp;ID 10fe1aa6…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this shows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design can be reproduced on a laptop with no API key. What makes it credible is not the architecture but the measurement: a frozen test set, an unseen set, ranges over repeated runs, a filter proven OFF against ON, and negatives written down with their evidence.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Next, on a GPU or hosted model: the escalate grader, a real P&amp;ID set with its own golden questions, and LangSmith with a real key.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https://github.com/shreenathacc22/ragcap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   ·    </a:t>
            </a:r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https://shreenathacc22.github.io/ragcap/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gcap">
  <a:themeElements>
    <a:clrScheme name="ragcap">
      <a:dk1>
        <a:srgbClr val="1F2933"/>
      </a:dk1>
      <a:lt1>
        <a:srgbClr val="FFFFFF"/>
      </a:lt1>
      <a:dk2>
        <a:srgbClr val="0F4C5C"/>
      </a:dk2>
      <a:lt2>
        <a:srgbClr val="EEF3F6"/>
      </a:lt2>
      <a:accent1>
        <a:srgbClr val="0F766E"/>
      </a:accent1>
      <a:accent2>
        <a:srgbClr val="B54141"/>
      </a:accent2>
      <a:accent3>
        <a:srgbClr val="1E7F4F"/>
      </a:accent3>
      <a:accent4>
        <a:srgbClr val="D98E04"/>
      </a:accent4>
      <a:accent5>
        <a:srgbClr val="5F6B76"/>
      </a:accent5>
      <a:accent6>
        <a:srgbClr val="2457A8"/>
      </a:accent6>
      <a:hlink>
        <a:srgbClr val="0F766E"/>
      </a:hlink>
      <a:folHlink>
        <a:srgbClr val="5F6B76"/>
      </a:folHlink>
    </a:clrScheme>
    <a:fontScheme name="ragca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ragcap: a multi-agent RAG system, built and measured</dc:title>
  <dc:subject>PptxGenJS Presentation</dc:subject>
  <dc:creator>Shreenath Shetty</dc:creator>
  <cp:lastModifiedBy>Shreenath Shetty</cp:lastModifiedBy>
  <cp:revision>1</cp:revision>
  <dcterms:created xsi:type="dcterms:W3CDTF">2026-10-19T14:27:43Z</dcterms:created>
  <dcterms:modified xsi:type="dcterms:W3CDTF">2026-10-19T14:27:43Z</dcterms:modified>
</cp:coreProperties>
</file>